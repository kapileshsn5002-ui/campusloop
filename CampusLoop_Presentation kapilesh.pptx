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3AF68-8226-4C0B-8856-9AE3F9C57438}" v="1" dt="2026-08-14T06:09:13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pilesh sn" userId="d1bb2fab577699f9" providerId="LiveId" clId="{86042B3D-7EBA-411B-8F95-431239DE66ED}"/>
    <pc:docChg chg="undo custSel modSld">
      <pc:chgData name="kapilesh sn" userId="d1bb2fab577699f9" providerId="LiveId" clId="{86042B3D-7EBA-411B-8F95-431239DE66ED}" dt="2026-08-14T06:11:34.891" v="276" actId="20577"/>
      <pc:docMkLst>
        <pc:docMk/>
      </pc:docMkLst>
      <pc:sldChg chg="addSp delSp modSp mod">
        <pc:chgData name="kapilesh sn" userId="d1bb2fab577699f9" providerId="LiveId" clId="{86042B3D-7EBA-411B-8F95-431239DE66ED}" dt="2026-08-14T06:11:34.891" v="276" actId="20577"/>
        <pc:sldMkLst>
          <pc:docMk/>
          <pc:sldMk cId="0" sldId="256"/>
        </pc:sldMkLst>
        <pc:spChg chg="mod">
          <ac:chgData name="kapilesh sn" userId="d1bb2fab577699f9" providerId="LiveId" clId="{86042B3D-7EBA-411B-8F95-431239DE66ED}" dt="2026-08-14T06:07:12.516" v="133" actId="20577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kapilesh sn" userId="d1bb2fab577699f9" providerId="LiveId" clId="{86042B3D-7EBA-411B-8F95-431239DE66ED}" dt="2026-08-14T06:11:34.891" v="276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3840480" cy="36576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ACADEMIC PROJECT PRESENTATION (202</a:t>
            </a:r>
            <a:r>
              <a:rPr lang="en-US" dirty="0"/>
              <a:t>3</a:t>
            </a:r>
            <a:r>
              <a:rPr dirty="0"/>
              <a:t>–202</a:t>
            </a:r>
            <a:r>
              <a:rPr lang="en-US" dirty="0"/>
              <a:t>7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A2540"/>
                </a:solidFill>
              </a:defRPr>
            </a:pPr>
            <a:r>
              <a:t>CampusLoop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81"/>
                </a:solidFill>
              </a:defRPr>
            </a:pPr>
            <a:r>
              <a:t>Employee Leave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64748B"/>
                </a:solidFill>
              </a:defRPr>
            </a:pPr>
            <a:r>
              <a:t>Web-Based Employee Leave Management &amp; Approval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65836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React.js  |  Spring Boot  |  MySQL  |  REST API  |  Playwright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4608" y="731520"/>
            <a:ext cx="3749039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65760" rtlCol="0" anchor="ctr"/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rPr dirty="0"/>
              <a:t>STUDENT DETAILS</a:t>
            </a:r>
          </a:p>
          <a:p>
            <a:pPr>
              <a:spcBef>
                <a:spcPts val="1400"/>
              </a:spcBef>
              <a:defRPr sz="1100" b="1">
                <a:solidFill>
                  <a:srgbClr val="64748B"/>
                </a:solidFill>
              </a:defRPr>
            </a:pPr>
            <a:r>
              <a:rPr dirty="0"/>
              <a:t>Student Name: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lang="en-US" dirty="0"/>
              <a:t>Kapilesh Saami Nagesh</a:t>
            </a:r>
            <a:endParaRPr dirty="0"/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lang="en-US" dirty="0"/>
              <a:t>(RA2311003050255)</a:t>
            </a:r>
            <a:endParaRPr dirty="0"/>
          </a:p>
          <a:p>
            <a:pPr>
              <a:spcBef>
                <a:spcPts val="1400"/>
              </a:spcBef>
              <a:defRPr sz="1100" b="1">
                <a:solidFill>
                  <a:srgbClr val="64748B"/>
                </a:solidFill>
              </a:defRPr>
            </a:pPr>
            <a:r>
              <a:rPr dirty="0"/>
              <a:t>Department: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lang="en-US" dirty="0"/>
              <a:t> CSE CORE</a:t>
            </a:r>
            <a:endParaRPr dirty="0"/>
          </a:p>
          <a:p>
            <a:pPr>
              <a:spcBef>
                <a:spcPts val="1400"/>
              </a:spcBef>
              <a:defRPr sz="1100" b="1">
                <a:solidFill>
                  <a:srgbClr val="64748B"/>
                </a:solidFill>
              </a:defRPr>
            </a:pPr>
            <a:r>
              <a:rPr dirty="0"/>
              <a:t>College Name: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lang="en-US"/>
              <a:t>SrmInstitute</a:t>
            </a:r>
            <a:r>
              <a:rPr lang="en-US" dirty="0"/>
              <a:t>  of Science  Technology</a:t>
            </a:r>
            <a:endParaRPr dirty="0"/>
          </a:p>
          <a:p>
            <a:pPr>
              <a:spcBef>
                <a:spcPts val="1400"/>
              </a:spcBef>
              <a:defRPr sz="1100" b="1">
                <a:solidFill>
                  <a:srgbClr val="64748B"/>
                </a:solidFill>
              </a:defRPr>
            </a:pPr>
            <a:r>
              <a:rPr dirty="0"/>
              <a:t>Academic Year: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rPr dirty="0"/>
              <a:t>202</a:t>
            </a:r>
            <a:r>
              <a:rPr lang="en-US" dirty="0"/>
              <a:t>3</a:t>
            </a:r>
            <a:r>
              <a:rPr dirty="0"/>
              <a:t>–202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TRADITIONAL LEAVE MANAGEMENT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Manual paper-based leave applications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Informal &amp; unorganized approval workflows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Difficulty tracking real-time leave balances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Lack of centralized employee record-keeping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Delayed manager responses &amp; approval bottlenecks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Limited visibility of application status for employees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 Increased risk of data-entry &amp; accounting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65760" rIns="365760" rtlCol="0" anchor="ctr"/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CORE PROBLEM DEFINITION</a:t>
            </a:r>
          </a:p>
          <a:p>
            <a:pPr>
              <a:spcBef>
                <a:spcPts val="1400"/>
              </a:spcBef>
              <a:defRPr sz="1400" b="1">
                <a:solidFill>
                  <a:srgbClr val="1E293B"/>
                </a:solidFill>
              </a:defRPr>
            </a:pPr>
            <a:r>
              <a:t>Employees and managers require a centralized digital web platform where leave requests can be submitted, tracked, reviewed, and approved efficiently without administrative friction.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Traditional Flow (Flawed):  Employee  ➔  Manual Paper Form  ➔  Manager Desk  ➔  Delayed Approval  ➔  Manual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4C81"/>
                </a:solidFill>
              </a:defRPr>
            </a:pPr>
            <a:r>
              <a:t>CampusLoop is a web-based employee leave management system designed to digitize, automate, and simplify the complete organizational leave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943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KEY SOLUTION ADVANTAGES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Secure Employee &amp; Manager Authentication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Interactive Employee Dashboard with Leave History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Online Application Submission with Instant Validation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Real-Time Leave Balance Calculation &amp; Tracking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Streamlined Manager Approval / Rejection Portal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Transparent Live Status Tracking for Employees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Centralized MySQL Relational Database Persistence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✔  Robust RESTful Backend APIs built with Spring Boot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286000"/>
            <a:ext cx="44805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DIGITAL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926080"/>
            <a:ext cx="39319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1. Employee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3697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401568"/>
            <a:ext cx="39319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2. Apply Leave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7124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877056"/>
            <a:ext cx="39319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3. Manager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187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352544"/>
            <a:ext cx="39319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4. Approve / Reject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6634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2563EB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828031"/>
            <a:ext cx="39319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5. Updated Status 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👤 EMPLOYEE FEATURES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Secure User Authentication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Personalized Dashboard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Real-Time Leave Balances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Online Leave Application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Comprehensive Leave History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Track Live Approval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300" b="1">
                <a:solidFill>
                  <a:srgbClr val="0F4C81"/>
                </a:solidFill>
              </a:defRPr>
            </a:pPr>
            <a:r>
              <a:t>👔 MANAGER FEATURES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View All Pending Requests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Review Detailed Applications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One-Click Approve / Reject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Add Manager Comments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Monitor Department Leaves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Employee Audit Trail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300" b="1">
                <a:solidFill>
                  <a:srgbClr val="0A2540"/>
                </a:solidFill>
              </a:defRPr>
            </a:pPr>
            <a:r>
              <a:t>⚙️ SYSTEM FEATURES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REST API Architecture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MySQL Relational Database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Robust Error Handling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Strict Input API Validation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Playwright E2E Testing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•  CORS &amp; Security 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CAMPUSLOOP HIGH-LEVEL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292608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REACT FRONTEND</a:t>
            </a:r>
            <a:br/>
            <a:r>
              <a:t>(Client Layer)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React.js (JSX)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Vite Build Tool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React Router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Auth Context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Dashboard &amp;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1089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⇄ REST</a:t>
            </a:r>
            <a:br/>
            <a:r>
              <a:t>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103120"/>
            <a:ext cx="310896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0F4C81"/>
                </a:solidFill>
              </a:defRPr>
            </a:pPr>
            <a:r>
              <a:t>SPRING BOOT BACKEND</a:t>
            </a:r>
            <a:br/>
            <a:r>
              <a:t>(Business Logic)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REST Controllers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Service Layer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Repository Layer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Spring Security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DTOs &amp;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31089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4C81"/>
                </a:solidFill>
              </a:defRPr>
            </a:pPr>
            <a:r>
              <a:t>⇄ JPA /</a:t>
            </a:r>
            <a:br/>
            <a:r>
              <a:t>JDBC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103120"/>
            <a:ext cx="2286000" cy="2560320"/>
          </a:xfrm>
          <a:prstGeom prst="roundRect">
            <a:avLst/>
          </a:prstGeom>
          <a:solidFill>
            <a:srgbClr val="EFF6FF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MYSQL DB</a:t>
            </a:r>
            <a:br/>
            <a:r>
              <a:t>(Persistence)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User Table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Employee Table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LeaveRequest Table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Relational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Architecture Summary: The React frontend communicates with Spring Boot REST APIs, which process business logic and persist employee &amp; leave information in MySQL. API quality is verified using Postman and Playwright.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Employee → Manager Leave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300" b="1">
                <a:solidFill>
                  <a:srgbClr val="0A2540"/>
                </a:solidFill>
              </a:defRPr>
            </a:pPr>
            <a:r>
              <a:t>Employee Login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Employee authenticates using secure email and password.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300" b="1">
                <a:solidFill>
                  <a:srgbClr val="0A2540"/>
                </a:solidFill>
              </a:defRPr>
            </a:pPr>
            <a:r>
              <a:t>Apply Leave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Selects Leave Type, Start/End Dates, Number of Days &amp; Reason.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300" b="1">
                <a:solidFill>
                  <a:srgbClr val="0A2540"/>
                </a:solidFill>
              </a:defRPr>
            </a:pPr>
            <a:r>
              <a:t>Request Stored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Leave request is persisted in MySQL database with PENDING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300" b="1">
                <a:solidFill>
                  <a:srgbClr val="0A2540"/>
                </a:solidFill>
              </a:defRPr>
            </a:pPr>
            <a:r>
              <a:t>Manager Reviews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Manager views pending leave requests in their portal.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300" b="1">
                <a:solidFill>
                  <a:srgbClr val="0A2540"/>
                </a:solidFill>
              </a:defRPr>
            </a:pPr>
            <a:r>
              <a:t>Manager Decision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Manager evaluates the request and selects APPROVE or REJECT.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300" b="1">
                <a:solidFill>
                  <a:srgbClr val="0A2540"/>
                </a:solidFill>
              </a:defRPr>
            </a:pPr>
            <a:r>
              <a:t>Status Updated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Employee views updated status and updated balance on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AI-Assisted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583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400" b="1">
                <a:solidFill>
                  <a:srgbClr val="0A2540"/>
                </a:solidFill>
              </a:defRPr>
            </a:pPr>
            <a:r>
              <a:t>AI ACCELERATION &amp; DEVELOPER VALIDATION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Assisted in generating and refining boilerplate code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Accelerated Spring Boot API controller &amp; service layer debugging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Assisted with React UI component layout &amp; state management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Helped identify and resolve CORS &amp; API integration issues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Assisted in creating comprehensive test scenarios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Helped optimize backend error handling and validation logic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Supported Playwright end-to-end test automation setup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•  Developer reviewed, modified, and validated all generated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463040"/>
            <a:ext cx="38404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DEVELOPMENT WORKFLOW</a:t>
            </a:r>
          </a:p>
          <a:p>
            <a:pPr algn="ctr">
              <a:spcBef>
                <a:spcPts val="1000"/>
              </a:spcBef>
              <a:defRPr sz="1100" b="1">
                <a:solidFill>
                  <a:srgbClr val="0F4C81"/>
                </a:solidFill>
              </a:defRPr>
            </a:pPr>
            <a:r>
              <a:t>[1]  Developer Intent</a:t>
            </a:r>
          </a:p>
          <a:p>
            <a:pPr algn="ctr">
              <a:spcBef>
                <a:spcPts val="1000"/>
              </a:spcBef>
              <a:defRPr sz="1100" b="1">
                <a:solidFill>
                  <a:srgbClr val="0F4C81"/>
                </a:solidFill>
              </a:defRPr>
            </a:pPr>
            <a:r>
              <a:t>[2]  AI Assistance Prompt</a:t>
            </a:r>
          </a:p>
          <a:p>
            <a:pPr algn="ctr">
              <a:spcBef>
                <a:spcPts val="1000"/>
              </a:spcBef>
              <a:defRPr sz="1100" b="1">
                <a:solidFill>
                  <a:srgbClr val="0F4C81"/>
                </a:solidFill>
              </a:defRPr>
            </a:pPr>
            <a:r>
              <a:t>[3]  Code Generation</a:t>
            </a:r>
          </a:p>
          <a:p>
            <a:pPr algn="ctr">
              <a:spcBef>
                <a:spcPts val="1000"/>
              </a:spcBef>
              <a:defRPr sz="1100" b="1">
                <a:solidFill>
                  <a:srgbClr val="0F4C81"/>
                </a:solidFill>
              </a:defRPr>
            </a:pPr>
            <a:r>
              <a:t>[4]  Manual Debug &amp; Refine</a:t>
            </a:r>
          </a:p>
          <a:p>
            <a:pPr algn="ctr">
              <a:spcBef>
                <a:spcPts val="1000"/>
              </a:spcBef>
              <a:defRPr sz="1100" b="1">
                <a:solidFill>
                  <a:srgbClr val="0F4C81"/>
                </a:solidFill>
              </a:defRPr>
            </a:pPr>
            <a:r>
              <a:t>[5]  Validation &amp; Testing</a:t>
            </a:r>
          </a:p>
          <a:p>
            <a:pPr>
              <a:spcBef>
                <a:spcPts val="2000"/>
              </a:spcBef>
              <a:defRPr sz="1000" i="1">
                <a:solidFill>
                  <a:srgbClr val="64748B"/>
                </a:solidFill>
              </a:defRPr>
            </a:pPr>
            <a:r>
              <a:t>Note: AI tools were used purely as development assistance. All application logic, schema, and API integrations were thoroughly verified and tested by the developer.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API Testing &amp; Test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300" b="1">
                <a:solidFill>
                  <a:srgbClr val="0A2540"/>
                </a:solidFill>
              </a:defRPr>
            </a:pPr>
            <a:r>
              <a:t>VALIDATED REST API ENDPOINTS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POST /api/auth/login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Purpose: Employee authentication &amp; JWT session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POST /api/leaves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Purpose: Create a new leave request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GET /api/leaves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Purpose: Retrieve all leave applications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GET /api/leaves/employee/{id}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Purpose: Retrieve employee specific history</a:t>
            </a:r>
          </a:p>
          <a:p>
            <a:pPr>
              <a:spcBef>
                <a:spcPts val="1000"/>
              </a:spcBef>
              <a:defRPr sz="1100" b="1">
                <a:solidFill>
                  <a:srgbClr val="2563EB"/>
                </a:solidFill>
              </a:defRPr>
            </a:pPr>
            <a:r>
              <a:t>PUT /api/leaves/{id}/status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Purpose: Update leave status (Approve/Reject)</a:t>
            </a:r>
          </a:p>
        </p:txBody>
      </p:sp>
      <p:pic>
        <p:nvPicPr>
          <p:cNvPr id="8" name="Picture 7" descr="postman_20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194560"/>
          </a:xfrm>
          <a:prstGeom prst="rect">
            <a:avLst/>
          </a:prstGeom>
        </p:spPr>
      </p:pic>
      <p:pic>
        <p:nvPicPr>
          <p:cNvPr id="9" name="Picture 8" descr="postman_201_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931920"/>
            <a:ext cx="530352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Test Validation: Failure → Fix →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🔴 1. DELIBERATE FAILURE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Login tested with wrong password.</a:t>
            </a:r>
          </a:p>
          <a:p>
            <a:pPr>
              <a:spcBef>
                <a:spcPts val="400"/>
              </a:spcBef>
              <a:defRPr sz="1000" b="1">
                <a:solidFill>
                  <a:srgbClr val="EF4444"/>
                </a:solidFill>
              </a:defRPr>
            </a:pPr>
            <a:r>
              <a:t>Result: 401 Unauthorized</a:t>
            </a:r>
            <a:br/>
            <a:r>
              <a:t>'Invalid email or password'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🛠 2. FIX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Correct employee credentials provided.</a:t>
            </a:r>
          </a:p>
          <a:p>
            <a:pPr>
              <a:spcBef>
                <a:spcPts val="400"/>
              </a:spcBef>
              <a:defRPr sz="1000" b="1">
                <a:solidFill>
                  <a:srgbClr val="0F4C81"/>
                </a:solidFill>
              </a:defRPr>
            </a:pPr>
            <a:r>
              <a:t>Action: Request payload updated &amp; re-sent to /api/auth/login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ECFDF5"/>
          </a:solidFill>
          <a:ln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🟢 3. PASS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Valid authentication request.</a:t>
            </a:r>
          </a:p>
          <a:p>
            <a:pPr>
              <a:spcBef>
                <a:spcPts val="400"/>
              </a:spcBef>
              <a:defRPr sz="1000" b="1">
                <a:solidFill>
                  <a:srgbClr val="10B981"/>
                </a:solidFill>
              </a:defRPr>
            </a:pPr>
            <a:r>
              <a:t>Result: 200 OK</a:t>
            </a:r>
            <a:br/>
            <a:r>
              <a:t>'Authentication successful'</a:t>
            </a:r>
          </a:p>
        </p:txBody>
      </p:sp>
      <p:pic>
        <p:nvPicPr>
          <p:cNvPr id="10" name="Picture 9" descr="postman_401_f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5212080" cy="2377440"/>
          </a:xfrm>
          <a:prstGeom prst="rect">
            <a:avLst/>
          </a:prstGeom>
        </p:spPr>
      </p:pic>
      <p:pic>
        <p:nvPicPr>
          <p:cNvPr id="11" name="Picture 10" descr="postman_200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49039"/>
            <a:ext cx="521208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CAMPUSLOOP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94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2540"/>
                </a:solidFill>
              </a:defRPr>
            </a:pPr>
            <a:r>
              <a:t>Conclusion &amp;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300" b="1">
                <a:solidFill>
                  <a:srgbClr val="0A2540"/>
                </a:solidFill>
              </a:defRPr>
            </a:pPr>
            <a:r>
              <a:t>PROJECT OUTCOMES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 Simplifies and digitizes employee leave application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 Reduces manual administrative paperwork and delays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 Provides transparent real-time status &amp; leave balances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 Improves manager approval and decision workflow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 Robust Spring Boot REST architecture &amp; MySQL persistence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✔  Validated with Playwright automated tests &amp; Postman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LIVE DEMO FLOW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1. Employee Login &amp; Dashboard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2. View Leave Balances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3. Submit New Leave Request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4. View Pending Application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5. Manager Reviews Request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6. Manager Approve / Reject Action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7. Employee View Updated Status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8. Demonstrate Postman API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CampusLoop — Simplifying Employee Leave Management Through Technology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93C5FD"/>
                </a:solidFill>
              </a:defRPr>
            </a:pPr>
            <a:r>
              <a:t>THANK YOU!  |  Q &amp; 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1028</Words>
  <Application>Microsoft Office PowerPoint</Application>
  <PresentationFormat>Widescreen</PresentationFormat>
  <Paragraphs>188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kapilesh sn</cp:lastModifiedBy>
  <cp:revision>1</cp:revision>
  <dcterms:created xsi:type="dcterms:W3CDTF">2013-01-27T09:14:16Z</dcterms:created>
  <dcterms:modified xsi:type="dcterms:W3CDTF">2026-08-14T06:11:36Z</dcterms:modified>
  <cp:category/>
</cp:coreProperties>
</file>