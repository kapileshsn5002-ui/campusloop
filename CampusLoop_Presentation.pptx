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4114800" cy="4114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8A"/>
                </a:solidFill>
                <a:latin typeface="Calibri"/>
              </a:defRPr>
            </a:pPr>
            <a:r>
              <a:t>ACADEMIC PROJECT PRESENTATION (2023-2027)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3A8A"/>
                </a:solidFill>
                <a:latin typeface="Calibri"/>
              </a:defRPr>
            </a:pPr>
            <a:r>
              <a:t>CampusLoop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Employee Leave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75569"/>
                </a:solidFill>
                <a:latin typeface="Calibri"/>
              </a:defRPr>
            </a:pPr>
            <a:r>
              <a:t>Web-Based Employee Leave Management &amp; Approval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6583680" cy="5486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3A8A"/>
                </a:solidFill>
                <a:latin typeface="Calibri"/>
              </a:defRPr>
            </a:pPr>
            <a:r>
              <a:t>React.js  |  Spring Boot  |  MySQL  |  REST API  |  Playwright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731520"/>
            <a:ext cx="3749039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914400"/>
            <a:ext cx="3383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Calibri"/>
              </a:defRPr>
            </a:pPr>
            <a:r>
              <a:t>STUDENT DETAILS</a:t>
            </a:r>
          </a:p>
          <a:p>
            <a:pPr>
              <a:spcBef>
                <a:spcPts val="1000"/>
              </a:spcBef>
              <a:defRPr sz="1100" b="1">
                <a:solidFill>
                  <a:srgbClr val="475569"/>
                </a:solidFill>
                <a:latin typeface="Calibri"/>
              </a:defRPr>
            </a:pPr>
            <a:r>
              <a:t>Student Name: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Kapilesh Saami Nagesh</a:t>
            </a:r>
          </a:p>
          <a:p>
            <a:pPr>
              <a:spcBef>
                <a:spcPts val="1000"/>
              </a:spcBef>
              <a:defRPr sz="1100" b="1">
                <a:solidFill>
                  <a:srgbClr val="475569"/>
                </a:solidFill>
                <a:latin typeface="Calibri"/>
              </a:defRPr>
            </a:pPr>
            <a:r>
              <a:t>Register Number: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RA2311003050255</a:t>
            </a:r>
          </a:p>
          <a:p>
            <a:pPr>
              <a:spcBef>
                <a:spcPts val="1000"/>
              </a:spcBef>
              <a:defRPr sz="1100" b="1">
                <a:solidFill>
                  <a:srgbClr val="475569"/>
                </a:solidFill>
                <a:latin typeface="Calibri"/>
              </a:defRPr>
            </a:pPr>
            <a:r>
              <a:t>Department: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CSE CORE</a:t>
            </a:r>
          </a:p>
          <a:p>
            <a:pPr>
              <a:spcBef>
                <a:spcPts val="1000"/>
              </a:spcBef>
              <a:defRPr sz="1100" b="1">
                <a:solidFill>
                  <a:srgbClr val="475569"/>
                </a:solidFill>
                <a:latin typeface="Calibri"/>
              </a:defRPr>
            </a:pPr>
            <a:r>
              <a:t>College Name: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SRM Institute of Science and Technology</a:t>
            </a:r>
          </a:p>
          <a:p>
            <a:pPr>
              <a:spcBef>
                <a:spcPts val="1000"/>
              </a:spcBef>
              <a:defRPr sz="1100" b="1">
                <a:solidFill>
                  <a:srgbClr val="475569"/>
                </a:solidFill>
                <a:latin typeface="Calibri"/>
              </a:defRPr>
            </a:pPr>
            <a:r>
              <a:t>Academic Year: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2023-2027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Slide 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CAMPUSLOOP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943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Slide 2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91C1C"/>
                </a:solidFill>
                <a:latin typeface="Calibri"/>
              </a:defRPr>
            </a:pPr>
            <a:r>
              <a:t>TRADITIONAL LEAVE MANAGEMENT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Manual paper-based leave applications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Informal &amp; unorganized approval workflows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Difficulty tracking real-time leave balances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Lack of centralized employee record-keeping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Delayed manager responses &amp; approval bottlenecks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Limited visibility of application status for employees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Increased risk of data-entry &amp; accounting errors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30352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Calibri"/>
              </a:defRPr>
            </a:pPr>
            <a:r>
              <a:t>CORE PROBLEM DEFINITION</a:t>
            </a:r>
          </a:p>
          <a:p>
            <a:pPr>
              <a:spcBef>
                <a:spcPts val="14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Employees and managers require a centralized digital web platform where leave requests can be submitted, tracked, reviewed, and approved efficiently without administrative friction.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698480" cy="82296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B91C1C"/>
                </a:solidFill>
                <a:latin typeface="Calibri"/>
              </a:defRPr>
            </a:pPr>
            <a:r>
              <a:t>Traditional Flow (Flawed): Employee -&gt; Manual Paper Form -&gt; Manager Desk -&gt; Delayed Approval -&gt; Manual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CAMPUSLOOP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943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Slide 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7772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3A8A"/>
                </a:solidFill>
                <a:latin typeface="Calibri"/>
              </a:defRPr>
            </a:pPr>
            <a:r>
              <a:t>CampusLoop is a web-based employee leave management system designed to digitize, automate, and simplify the complete organizational leave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594360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Calibri"/>
              </a:defRPr>
            </a:pPr>
            <a:r>
              <a:t>KEY SOLUTION ADVANTAGES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[+]  Secure Employee &amp; Manager Authentication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[+]  Interactive Employee Dashboard with Leave History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[+]  Online Application Submission with Instant Validation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[+]  Real-Time Leave Balance Calculation &amp; Tracking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[+]  Streamlined Manager Approval / Rejection Portal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[+]  Transparent Live Status Tracking for Employees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[+]  Centralized MySQL Relational Database Persistence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[+]  Robust RESTful Backend APIs built with Spring Boot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331720"/>
            <a:ext cx="44805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4688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Calibri"/>
              </a:defRPr>
            </a:pPr>
            <a:r>
              <a:t>DIGITAL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2926080"/>
            <a:ext cx="3931920" cy="4114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97180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  <a:latin typeface="Calibri"/>
              </a:defRPr>
            </a:pPr>
            <a:r>
              <a:t>1. Employee Login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3429000"/>
            <a:ext cx="3931920" cy="4114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47472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  <a:latin typeface="Calibri"/>
              </a:defRPr>
            </a:pPr>
            <a:r>
              <a:t>2. Apply Leave Online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931920"/>
            <a:ext cx="3931920" cy="4114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3977639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  <a:latin typeface="Calibri"/>
              </a:defRPr>
            </a:pPr>
            <a:r>
              <a:t>3. Manager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4434840"/>
            <a:ext cx="3931920" cy="4114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4480559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  <a:latin typeface="Calibri"/>
              </a:defRPr>
            </a:pPr>
            <a:r>
              <a:t>4. Approve / Reject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4937759"/>
            <a:ext cx="3931920" cy="4114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4983479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  <a:latin typeface="Calibri"/>
              </a:defRPr>
            </a:pPr>
            <a:r>
              <a:t>5. Updated Status Sync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CAMPUSLOOP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943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Key Features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Slide 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EMPLOYEE FEATURES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Secure User Authentication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Personalized Dashboard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Real-Time Leave Balances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Online Leave Application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Comprehensive Leave History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Track Live Approval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MANAGER FEATURES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View Pending Requests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Review Applications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One-Click Approve/Reject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Add Manager Comments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Department Balance Audit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Action History Trail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SYSTEM FEATURES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REST API Integration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MySQL Relational DB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Robust Error Handling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Strict Payload Validation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Automated Playwright Tests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CORS Security Setup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CAMPUSLOOP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943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Slide 5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E3A8A"/>
                </a:solidFill>
                <a:latin typeface="Calibri"/>
              </a:defRPr>
            </a:pPr>
            <a:r>
              <a:t>CAMPUSLOOP HIGH-LEVEL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103120"/>
            <a:ext cx="2926080" cy="25603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REACT FRONTEND</a:t>
            </a:r>
            <a:br/>
            <a:r>
              <a:t>(Client Layer)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- React.js (JSX)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- Vite Build Tool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- React Router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- Auth Context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- Dashboard &amp; 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310896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&lt;-&gt; REST</a:t>
            </a:r>
            <a:br/>
            <a:r>
              <a:t>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103120"/>
            <a:ext cx="3108960" cy="25603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19456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SPRING BOOT BACKEND</a:t>
            </a:r>
            <a:br/>
            <a:r>
              <a:t>(Business Logic)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- REST Controllers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- Service Layer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- Repository Layer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- Spring Security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- DTOs &amp;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10896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&lt;-&gt; JPA /</a:t>
            </a:r>
            <a:br/>
            <a:r>
              <a:t>JDBC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2103120"/>
            <a:ext cx="2286000" cy="25603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19456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MYSQL DB</a:t>
            </a:r>
            <a:br/>
            <a:r>
              <a:t>(Persistence)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- User Table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- Employee Table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- LeaveRequest Table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- Relational Keys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10698480" cy="7772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Architecture Summary: The React frontend communicates with Spring Boot REST APIs, which process business logic and persist employee &amp; leave information in MySQL. API quality is verified using Postman and Playwright.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CAMPUSLOOP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943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Employee -&gt; Manager Leave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Slide 6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400" b="1">
                <a:solidFill>
                  <a:srgbClr val="1E3A8A"/>
                </a:solidFill>
                <a:latin typeface="Calibri"/>
              </a:defRPr>
            </a:pPr>
            <a:r>
              <a:t>Employee Login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Employee authenticates using secure email and password.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2918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400" b="1">
                <a:solidFill>
                  <a:srgbClr val="1E3A8A"/>
                </a:solidFill>
                <a:latin typeface="Calibri"/>
              </a:defRPr>
            </a:pPr>
            <a:r>
              <a:t>Apply Leave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Selects Leave Type, Start/End Dates, Number of Days &amp; Reason.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2918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400" b="1">
                <a:solidFill>
                  <a:srgbClr val="1E3A8A"/>
                </a:solidFill>
                <a:latin typeface="Calibri"/>
              </a:defRPr>
            </a:pPr>
            <a:r>
              <a:t>Request Stored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Leave request is persisted in MySQL database with PENDING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2918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400" b="1">
                <a:solidFill>
                  <a:srgbClr val="1E3A8A"/>
                </a:solidFill>
                <a:latin typeface="Calibri"/>
              </a:defRPr>
            </a:pPr>
            <a:r>
              <a:t>Manager Reviews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Manager views pending leave requests in their portal.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31920"/>
            <a:ext cx="32918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5</a:t>
            </a:r>
          </a:p>
          <a:p>
            <a:pPr>
              <a:spcBef>
                <a:spcPts val="400"/>
              </a:spcBef>
              <a:defRPr sz="1400" b="1">
                <a:solidFill>
                  <a:srgbClr val="1E3A8A"/>
                </a:solidFill>
                <a:latin typeface="Calibri"/>
              </a:defRPr>
            </a:pPr>
            <a:r>
              <a:t>Manager Decision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Manager evaluates the request and selects APPROVE or REJECT.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931920"/>
            <a:ext cx="32918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114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6</a:t>
            </a:r>
          </a:p>
          <a:p>
            <a:pPr>
              <a:spcBef>
                <a:spcPts val="400"/>
              </a:spcBef>
              <a:defRPr sz="1400" b="1">
                <a:solidFill>
                  <a:srgbClr val="1E3A8A"/>
                </a:solidFill>
                <a:latin typeface="Calibri"/>
              </a:defRPr>
            </a:pPr>
            <a:r>
              <a:t>Status Updated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Employee views updated status and updated balance on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CAMPUSLOOP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943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AI-Assisted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Slide 7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5836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Calibri"/>
              </a:defRPr>
            </a:pPr>
            <a:r>
              <a:t>AI ACCELERATION &amp; DEVELOPER VALIDATION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Assisted in generating and refining boilerplate code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Accelerated Spring Boot API controller &amp; service layer debugging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Assisted with React UI component layout &amp; state management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Helped identify and resolve CORS &amp; API integration issues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Assisted in creating comprehensive test scenarios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Helped optimize backend error handling and validation logic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Supported Playwright end-to-end test automation setup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- Developer reviewed, modified, and validated all generated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463040"/>
            <a:ext cx="3840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64592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DEVELOPMENT WORKFLOW</a:t>
            </a:r>
          </a:p>
          <a:p>
            <a:pPr algn="ctr">
              <a:spcBef>
                <a:spcPts val="1200"/>
              </a:spcBef>
              <a:defRPr sz="1200" b="1">
                <a:solidFill>
                  <a:srgbClr val="1E3A8A"/>
                </a:solidFill>
                <a:latin typeface="Calibri"/>
              </a:defRPr>
            </a:pPr>
            <a:r>
              <a:t>[1]  Developer Intent</a:t>
            </a:r>
          </a:p>
          <a:p>
            <a:pPr algn="ctr">
              <a:spcBef>
                <a:spcPts val="1200"/>
              </a:spcBef>
              <a:defRPr sz="1200" b="1">
                <a:solidFill>
                  <a:srgbClr val="1E3A8A"/>
                </a:solidFill>
                <a:latin typeface="Calibri"/>
              </a:defRPr>
            </a:pPr>
            <a:r>
              <a:t>[2]  AI Assistance Prompt</a:t>
            </a:r>
          </a:p>
          <a:p>
            <a:pPr algn="ctr">
              <a:spcBef>
                <a:spcPts val="1200"/>
              </a:spcBef>
              <a:defRPr sz="1200" b="1">
                <a:solidFill>
                  <a:srgbClr val="1E3A8A"/>
                </a:solidFill>
                <a:latin typeface="Calibri"/>
              </a:defRPr>
            </a:pPr>
            <a:r>
              <a:t>[3]  Code Generation</a:t>
            </a:r>
          </a:p>
          <a:p>
            <a:pPr algn="ctr">
              <a:spcBef>
                <a:spcPts val="1200"/>
              </a:spcBef>
              <a:defRPr sz="1200" b="1">
                <a:solidFill>
                  <a:srgbClr val="1E3A8A"/>
                </a:solidFill>
                <a:latin typeface="Calibri"/>
              </a:defRPr>
            </a:pPr>
            <a:r>
              <a:t>[4]  Manual Debug &amp; Refine</a:t>
            </a:r>
          </a:p>
          <a:p>
            <a:pPr algn="ctr">
              <a:spcBef>
                <a:spcPts val="1200"/>
              </a:spcBef>
              <a:defRPr sz="1200" b="1">
                <a:solidFill>
                  <a:srgbClr val="1E3A8A"/>
                </a:solidFill>
                <a:latin typeface="Calibri"/>
              </a:defRPr>
            </a:pPr>
            <a:r>
              <a:t>[5]  Validation &amp; Testing</a:t>
            </a:r>
          </a:p>
          <a:p>
            <a:pPr>
              <a:spcBef>
                <a:spcPts val="2400"/>
              </a:spcBef>
              <a:defRPr sz="1000" i="1">
                <a:solidFill>
                  <a:srgbClr val="475569"/>
                </a:solidFill>
                <a:latin typeface="Calibri"/>
              </a:defRPr>
            </a:pPr>
            <a:r>
              <a:t>Note: AI tools were used purely as development assistance. All application logic, schema, and API integrations were thoroughly verified and tested by the developer.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CAMPUSLOOP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943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API Testing &amp; Test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Slide 8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Calibri"/>
              </a:defRPr>
            </a:pPr>
            <a:r>
              <a:t>VALIDATED REST API ENDPOINTS</a:t>
            </a:r>
          </a:p>
          <a:p>
            <a:pPr>
              <a:spcBef>
                <a:spcPts val="1000"/>
              </a:spcBef>
              <a:defRPr sz="1200" b="1">
                <a:solidFill>
                  <a:srgbClr val="2563EB"/>
                </a:solidFill>
                <a:latin typeface="Calibri"/>
              </a:defRPr>
            </a:pPr>
            <a:r>
              <a:t>POST /api/auth/login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Purpose: Employee authentication &amp; JWT session</a:t>
            </a:r>
          </a:p>
          <a:p>
            <a:pPr>
              <a:spcBef>
                <a:spcPts val="1000"/>
              </a:spcBef>
              <a:defRPr sz="1200" b="1">
                <a:solidFill>
                  <a:srgbClr val="2563EB"/>
                </a:solidFill>
                <a:latin typeface="Calibri"/>
              </a:defRPr>
            </a:pPr>
            <a:r>
              <a:t>POST /api/leaves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Purpose: Create a new leave request</a:t>
            </a:r>
          </a:p>
          <a:p>
            <a:pPr>
              <a:spcBef>
                <a:spcPts val="1000"/>
              </a:spcBef>
              <a:defRPr sz="1200" b="1">
                <a:solidFill>
                  <a:srgbClr val="2563EB"/>
                </a:solidFill>
                <a:latin typeface="Calibri"/>
              </a:defRPr>
            </a:pPr>
            <a:r>
              <a:t>GET /api/leaves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Purpose: Retrieve all leave applications</a:t>
            </a:r>
          </a:p>
          <a:p>
            <a:pPr>
              <a:spcBef>
                <a:spcPts val="1000"/>
              </a:spcBef>
              <a:defRPr sz="1200" b="1">
                <a:solidFill>
                  <a:srgbClr val="2563EB"/>
                </a:solidFill>
                <a:latin typeface="Calibri"/>
              </a:defRPr>
            </a:pPr>
            <a:r>
              <a:t>GET /api/leaves/employee/{id}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Purpose: Retrieve employee specific history</a:t>
            </a:r>
          </a:p>
          <a:p>
            <a:pPr>
              <a:spcBef>
                <a:spcPts val="1000"/>
              </a:spcBef>
              <a:defRPr sz="1200" b="1">
                <a:solidFill>
                  <a:srgbClr val="2563EB"/>
                </a:solidFill>
                <a:latin typeface="Calibri"/>
              </a:defRPr>
            </a:pPr>
            <a:r>
              <a:t>PUT /api/leaves/{id}/status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Purpose: Update leave status (Approve/Reject)</a:t>
            </a:r>
          </a:p>
        </p:txBody>
      </p:sp>
      <p:pic>
        <p:nvPicPr>
          <p:cNvPr id="9" name="Picture 8" descr="postman_200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2194560"/>
          </a:xfrm>
          <a:prstGeom prst="rect">
            <a:avLst/>
          </a:prstGeom>
        </p:spPr>
      </p:pic>
      <p:pic>
        <p:nvPicPr>
          <p:cNvPr id="10" name="Picture 9" descr="postman_201_cre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931920"/>
            <a:ext cx="53035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CAMPUSLOOP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943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Test Validation: Failure -&gt; Fix -&gt; 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Slide 9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91C1C"/>
                </a:solidFill>
                <a:latin typeface="Calibri"/>
              </a:defRPr>
            </a:pPr>
            <a:r>
              <a:t>1. DELIBERATE FAILURE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Login tested with wrong password.</a:t>
            </a:r>
          </a:p>
          <a:p>
            <a:pPr>
              <a:spcBef>
                <a:spcPts val="400"/>
              </a:spcBef>
              <a:defRPr sz="1100" b="1">
                <a:solidFill>
                  <a:srgbClr val="B91C1C"/>
                </a:solidFill>
                <a:latin typeface="Calibri"/>
              </a:defRPr>
            </a:pPr>
            <a:r>
              <a:t>Result: 401 Unauthorized</a:t>
            </a:r>
            <a:br/>
            <a:r>
              <a:t>'Invalid email or password'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20116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Calibri"/>
              </a:defRPr>
            </a:pPr>
            <a:r>
              <a:t>2. FIX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Correct employee credentials provided.</a:t>
            </a:r>
          </a:p>
          <a:p>
            <a:pPr>
              <a:spcBef>
                <a:spcPts val="400"/>
              </a:spcBef>
              <a:defRPr sz="1100" b="1">
                <a:solidFill>
                  <a:srgbClr val="1E3A8A"/>
                </a:solidFill>
                <a:latin typeface="Calibri"/>
              </a:defRPr>
            </a:pPr>
            <a:r>
              <a:t>Action: Request payload updated &amp; re-sent to /api/auth/login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201168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5544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47857"/>
                </a:solidFill>
                <a:latin typeface="Calibri"/>
              </a:defRPr>
            </a:pPr>
            <a:r>
              <a:t>3. PASS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Valid authentication request.</a:t>
            </a:r>
          </a:p>
          <a:p>
            <a:pPr>
              <a:spcBef>
                <a:spcPts val="400"/>
              </a:spcBef>
              <a:defRPr sz="1100" b="1">
                <a:solidFill>
                  <a:srgbClr val="047857"/>
                </a:solidFill>
                <a:latin typeface="Calibri"/>
              </a:defRPr>
            </a:pPr>
            <a:r>
              <a:t>Result: 200 OK</a:t>
            </a:r>
            <a:br/>
            <a:r>
              <a:t>'Authentication successful'</a:t>
            </a:r>
          </a:p>
        </p:txBody>
      </p:sp>
      <p:pic>
        <p:nvPicPr>
          <p:cNvPr id="13" name="Picture 12" descr="postman_401_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49039"/>
            <a:ext cx="5212080" cy="2377440"/>
          </a:xfrm>
          <a:prstGeom prst="rect">
            <a:avLst/>
          </a:prstGeom>
        </p:spPr>
      </p:pic>
      <p:pic>
        <p:nvPicPr>
          <p:cNvPr id="14" name="Picture 13" descr="postman_200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749039"/>
            <a:ext cx="521208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CAMPUSLOOP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943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Conclusion &amp; 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Slide 10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Calibri"/>
              </a:defRPr>
            </a:pPr>
            <a:r>
              <a:t>PROJECT OUTCOMES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[+]  Simplifies and digitizes employee leave application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[+]  Reduces manual administrative paperwork and delays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[+]  Provides transparent real-time status &amp; leave balances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[+]  Improves manager approval and decision workflow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[+]  Robust Spring Boot REST architecture &amp; MySQL persistence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[+]  Validated with Playwright automated tests &amp; Postman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3035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LIVE DEMO FLOW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1. Employee Login &amp; Dashboard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2. View Leave Balances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3. Submit New Leave Request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4. View Pending Application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5. Manager Reviews Request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6. Manager Approve / Reject Action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7. Employee View Updated Status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Calibri"/>
              </a:defRPr>
            </a:pPr>
            <a:r>
              <a:t>8. Demonstrate Postman API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CampusLoop - Simplifying Employee Leave Management Through Technology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DBEAFE"/>
                </a:solidFill>
                <a:latin typeface="Calibri"/>
              </a:defRPr>
            </a:pPr>
            <a:r>
              <a:t>THANK YOU!  |  Q &amp; A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